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73423" cy="109728"/>
          </a:xfrm>
          <a:prstGeom prst="rect">
            <a:avLst/>
          </a:prstGeom>
          <a:solidFill>
            <a:srgbClr val="2F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73423" cy="109728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423" cy="109728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4073423" cy="109728"/>
          </a:xfrm>
          <a:prstGeom prst="rect">
            <a:avLst/>
          </a:prstGeom>
          <a:solidFill>
            <a:srgbClr val="2F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63898" y="6693408"/>
            <a:ext cx="4073423" cy="109728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27796" y="6693408"/>
            <a:ext cx="4073423" cy="109728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AA0B0"/>
                </a:solidFill>
                <a:latin typeface="Arial"/>
              </a:rPr>
              <a:t>MUSIC VIDEO ·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ECEEF4"/>
                </a:solidFill>
                <a:latin typeface="Arial"/>
              </a:rPr>
              <a:t>一遍一遍 — ADD MV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6576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FFB24D"/>
                </a:solidFill>
                <a:latin typeface="Arial"/>
              </a:rPr>
              <a:t>끝없이 반복되는 도시에서, 단 한 번의 선셋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AA0B0"/>
                </a:solidFill>
                <a:latin typeface="Arial"/>
              </a:rPr>
              <a:t>Beijing · Ultra-low-budget · One-location one-take · Sunset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868680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73423" cy="109728"/>
          </a:xfrm>
          <a:prstGeom prst="rect">
            <a:avLst/>
          </a:prstGeom>
          <a:solidFill>
            <a:srgbClr val="2F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73423" cy="109728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73423" cy="109728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4D5E"/>
                </a:solidFill>
                <a:latin typeface="Arial"/>
              </a:rPr>
              <a:t>THE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4124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ECEEF4"/>
                </a:solidFill>
                <a:latin typeface="Arial"/>
              </a:rPr>
              <a:t>과제 — 무엇을 풀어야 하나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0881360" cy="420624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1024128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4D5E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ADD(6인) 신곡 '一遍一遍' MV — 예산은 초저예산, 그러나 임팩트는 필요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4D5E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6인 그룹을 담으면서도 산만하지 않은 하나의 강한 비주얼 훅이 필요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4D5E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흔한 아이돌 MV 클리셰(세트·LED월·잦은 컷)는 비용과 식상함의 함정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4D5E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가사 핵심 '一遍 一遍(반복)'을 영상 언어로 번역해야 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一遍一遍 · ADD · MV PITCH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868680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73423" cy="109728"/>
          </a:xfrm>
          <a:prstGeom prst="rect">
            <a:avLst/>
          </a:prstGeom>
          <a:solidFill>
            <a:srgbClr val="2F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73423" cy="109728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73423" cy="109728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B24D"/>
                </a:solidFill>
                <a:latin typeface="Arial"/>
              </a:rPr>
              <a:t>THE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4124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ECEEF4"/>
                </a:solidFill>
                <a:latin typeface="Arial"/>
              </a:rPr>
              <a:t>콘셉트 — 반복되는 도시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6400800" cy="420624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576072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B24D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콘셉트: 끝없이 반복되는 콘크리트 도시 = '一遍 一遍'의 시각적 번역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B24D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주인공 서사: 새벽까지 깨어 글 쓰는 사람 (가사 '键盘声在回响…')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B24D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단일 로케 원테이크 퍼포먼스 필름 — 컷 대신 카메라 흐름으로 '반복' 표현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B24D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톤 아크: 블루(고독) → 레드(지배) → 웜(해방), 조명만 바꿔 한 공간에서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B24D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클라이맥스에 실제 선셋(골든아워)을 박아 감정선 완성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828800"/>
            <a:ext cx="4206240" cy="2926080"/>
          </a:xfrm>
          <a:prstGeom prst="roundRect">
            <a:avLst/>
          </a:prstGeom>
          <a:solidFill>
            <a:srgbClr val="33363D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52360" y="3822192"/>
            <a:ext cx="291084" cy="822960"/>
          </a:xfrm>
          <a:prstGeom prst="rect">
            <a:avLst/>
          </a:prstGeom>
          <a:solidFill>
            <a:srgbClr val="454952"/>
          </a:solidFill>
          <a:ln w="6350">
            <a:solidFill>
              <a:srgbClr val="5559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79792" y="389534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389534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79792" y="404164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404164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79792" y="418795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43800" y="418795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79792" y="433425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43800" y="433425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9792" y="448056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43800" y="448056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80020" y="3657600"/>
            <a:ext cx="291084" cy="987552"/>
          </a:xfrm>
          <a:prstGeom prst="rect">
            <a:avLst/>
          </a:prstGeom>
          <a:solidFill>
            <a:srgbClr val="454952"/>
          </a:solidFill>
          <a:ln w="6350">
            <a:solidFill>
              <a:srgbClr val="5559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07452" y="373075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71460" y="373075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07452" y="387705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71460" y="387705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07452" y="402336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71460" y="402336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07452" y="416966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71460" y="416966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07452" y="431596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71460" y="431596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07452" y="446227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71460" y="446227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07680" y="3493008"/>
            <a:ext cx="291084" cy="1152144"/>
          </a:xfrm>
          <a:prstGeom prst="rect">
            <a:avLst/>
          </a:prstGeom>
          <a:solidFill>
            <a:srgbClr val="454952"/>
          </a:solidFill>
          <a:ln w="6350">
            <a:solidFill>
              <a:srgbClr val="5559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5112" y="356616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99120" y="356616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5112" y="371246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99120" y="371246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5112" y="385876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99120" y="385876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35112" y="400507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99120" y="400507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35112" y="415137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99120" y="415137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35112" y="429768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99120" y="429768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35112" y="444398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99120" y="444398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435340" y="3328416"/>
            <a:ext cx="291084" cy="1316736"/>
          </a:xfrm>
          <a:prstGeom prst="rect">
            <a:avLst/>
          </a:prstGeom>
          <a:solidFill>
            <a:srgbClr val="454952"/>
          </a:solidFill>
          <a:ln w="6350">
            <a:solidFill>
              <a:srgbClr val="5559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62772" y="340156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526780" y="340156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62772" y="354787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526780" y="354787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62772" y="369417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526780" y="369417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62772" y="384048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526780" y="384048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462772" y="398678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526780" y="398678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462772" y="413308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526780" y="413308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462772" y="427939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526780" y="427939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462772" y="442569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526780" y="442569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62772" y="457200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526780" y="457200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763000" y="3822192"/>
            <a:ext cx="291084" cy="822960"/>
          </a:xfrm>
          <a:prstGeom prst="rect">
            <a:avLst/>
          </a:prstGeom>
          <a:solidFill>
            <a:srgbClr val="454952"/>
          </a:solidFill>
          <a:ln w="6350">
            <a:solidFill>
              <a:srgbClr val="5559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790432" y="389534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854440" y="389534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790432" y="404164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854440" y="404164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790432" y="418795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854440" y="418795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790432" y="433425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854440" y="433425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90432" y="448056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854440" y="448056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090660" y="3657600"/>
            <a:ext cx="291084" cy="987552"/>
          </a:xfrm>
          <a:prstGeom prst="rect">
            <a:avLst/>
          </a:prstGeom>
          <a:solidFill>
            <a:srgbClr val="454952"/>
          </a:solidFill>
          <a:ln w="6350">
            <a:solidFill>
              <a:srgbClr val="5559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118092" y="373075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182100" y="373075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118092" y="387705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182100" y="387705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118092" y="402336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182100" y="402336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118092" y="416966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182100" y="416966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118092" y="431596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82100" y="431596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118092" y="446227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182100" y="446227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418320" y="3493008"/>
            <a:ext cx="291084" cy="1152144"/>
          </a:xfrm>
          <a:prstGeom prst="rect">
            <a:avLst/>
          </a:prstGeom>
          <a:solidFill>
            <a:srgbClr val="454952"/>
          </a:solidFill>
          <a:ln w="6350">
            <a:solidFill>
              <a:srgbClr val="5559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445752" y="356616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509760" y="356616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445752" y="371246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509760" y="371246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445752" y="385876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509760" y="385876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445752" y="400507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509760" y="400507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445752" y="415137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509760" y="415137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445752" y="429768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509760" y="429768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5752" y="444398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09760" y="444398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745980" y="3328416"/>
            <a:ext cx="291084" cy="1316736"/>
          </a:xfrm>
          <a:prstGeom prst="rect">
            <a:avLst/>
          </a:prstGeom>
          <a:solidFill>
            <a:srgbClr val="454952"/>
          </a:solidFill>
          <a:ln w="6350">
            <a:solidFill>
              <a:srgbClr val="5559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773412" y="340156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837420" y="340156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73412" y="354787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37420" y="354787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73412" y="369417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37420" y="369417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73412" y="384048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37420" y="384048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773412" y="398678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37420" y="398678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773412" y="413308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837420" y="413308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773412" y="427939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837420" y="427939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773412" y="442569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837420" y="442569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773412" y="457200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837420" y="457200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073640" y="3822192"/>
            <a:ext cx="291084" cy="822960"/>
          </a:xfrm>
          <a:prstGeom prst="rect">
            <a:avLst/>
          </a:prstGeom>
          <a:solidFill>
            <a:srgbClr val="454952"/>
          </a:solidFill>
          <a:ln w="6350">
            <a:solidFill>
              <a:srgbClr val="5559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101072" y="389534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165080" y="389534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0101072" y="404164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165080" y="404164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101072" y="418795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165080" y="418795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0101072" y="433425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0165080" y="433425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0101072" y="448056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0165080" y="448056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0401300" y="3657600"/>
            <a:ext cx="291084" cy="987552"/>
          </a:xfrm>
          <a:prstGeom prst="rect">
            <a:avLst/>
          </a:prstGeom>
          <a:solidFill>
            <a:srgbClr val="454952"/>
          </a:solidFill>
          <a:ln w="6350">
            <a:solidFill>
              <a:srgbClr val="5559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428732" y="373075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492740" y="373075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428732" y="387705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0492740" y="387705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428732" y="402336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0492740" y="402336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428732" y="416966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0492740" y="416966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0428732" y="431596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0492740" y="431596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428732" y="446227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492740" y="446227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0728960" y="3493008"/>
            <a:ext cx="291084" cy="1152144"/>
          </a:xfrm>
          <a:prstGeom prst="rect">
            <a:avLst/>
          </a:prstGeom>
          <a:solidFill>
            <a:srgbClr val="454952"/>
          </a:solidFill>
          <a:ln w="6350">
            <a:solidFill>
              <a:srgbClr val="5559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0756392" y="356616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0820400" y="356616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0756392" y="371246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0820400" y="371246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0756392" y="385876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0820400" y="385876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0756392" y="400507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0820400" y="400507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0756392" y="415137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0820400" y="415137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0756392" y="429768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0820400" y="429768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0756392" y="444398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0820400" y="444398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1056620" y="3328416"/>
            <a:ext cx="291084" cy="1316736"/>
          </a:xfrm>
          <a:prstGeom prst="rect">
            <a:avLst/>
          </a:prstGeom>
          <a:solidFill>
            <a:srgbClr val="454952"/>
          </a:solidFill>
          <a:ln w="6350">
            <a:solidFill>
              <a:srgbClr val="5559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1084052" y="340156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1148060" y="340156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084052" y="354787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148060" y="354787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1084052" y="369417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1148060" y="369417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1084052" y="384048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1148060" y="384048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1084052" y="398678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11148060" y="3986784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1084052" y="413308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1148060" y="4133088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1084052" y="427939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1148060" y="4279392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1084052" y="442569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11148060" y="4425696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11084052" y="457200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1148060" y="4572000"/>
            <a:ext cx="36576" cy="64008"/>
          </a:xfrm>
          <a:prstGeom prst="rect">
            <a:avLst/>
          </a:prstGeom>
          <a:solidFill>
            <a:srgbClr val="666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418320" y="4443984"/>
            <a:ext cx="64008" cy="201168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7315200" y="4892040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A0B0"/>
                </a:solidFill>
                <a:latin typeface="Arial"/>
              </a:rPr>
              <a:t>KEY VISUAL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CEEF4"/>
                </a:solidFill>
                <a:latin typeface="Arial"/>
              </a:rPr>
              <a:t>끝없이 반복되는 콘크리트 =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0B0"/>
                </a:solidFill>
                <a:latin typeface="Arial"/>
              </a:rPr>
              <a:t>‘一遍 一遍’ (실로케 사진 대체 예정)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40080" y="643737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一遍一遍 · ADD · MV PITCH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115568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86868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73423" cy="109728"/>
          </a:xfrm>
          <a:prstGeom prst="rect">
            <a:avLst/>
          </a:prstGeom>
          <a:solidFill>
            <a:srgbClr val="2F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73423" cy="109728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73423" cy="109728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8CFF"/>
                </a:solidFill>
                <a:latin typeface="Arial"/>
              </a:rPr>
              <a:t>ARTIST &amp;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4124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ECEEF4"/>
                </a:solidFill>
                <a:latin typeface="Arial"/>
              </a:rPr>
              <a:t>ADD &amp; 시장 맥락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0881360" cy="420624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1024128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8CFF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ADD: 와지지와 엔터 6인조, 2025.09.12 데뷔 (〈X-Fire Camp〉 출신)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8CFF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가사 'ADD将干扰撕碎' = 그룹명을 가사에 박은 셀프 레퍼런스 → 팬 후킹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8CFF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반복 안무 + 대칭 구도 = 더우인/숏폼 챌린지로 그대로 전환 가능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8CFF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차가운 도시 미학 = 글로벌 팬덤이 선호하는 시네마틱 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一遍一遍 · ADD · MV PITCH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86868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73423" cy="109728"/>
          </a:xfrm>
          <a:prstGeom prst="rect">
            <a:avLst/>
          </a:prstGeom>
          <a:solidFill>
            <a:srgbClr val="2F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73423" cy="109728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73423" cy="109728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8CFF"/>
                </a:solidFill>
                <a:latin typeface="Arial"/>
              </a:rPr>
              <a:t>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4124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ECEEF4"/>
                </a:solidFill>
                <a:latin typeface="Arial"/>
              </a:rPr>
              <a:t>연출 — 단일 로케 원테이크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0881360" cy="420624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1024128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8CFF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ONE LOCATION: 옥상/고층 빈집 1곳 — 실내(작가의 방) ↔ 창밖·옥상(반복 도시)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8CFF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ONE-TAKE FILM: 짐벌로 끊김 없이, 컷 최소화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8CFF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REAL SUNSET: 골든아워를 클라이맥스로 (블루→웜 자연 전환)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8CFF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MINIMAL GEAR: 자연광 + 짐벌 1대 + 헤이즈, 게릴라 핸드헬드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一遍一遍 · ADD · MV PITCH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868680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73423" cy="109728"/>
          </a:xfrm>
          <a:prstGeom prst="rect">
            <a:avLst/>
          </a:prstGeom>
          <a:solidFill>
            <a:srgbClr val="2F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73423" cy="109728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73423" cy="109728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4D5E"/>
                </a:solidFill>
                <a:latin typeface="Arial"/>
              </a:rPr>
              <a:t>KEY SHOTS &amp; HOOKS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4124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ECEEF4"/>
                </a:solidFill>
                <a:latin typeface="Arial"/>
              </a:rPr>
              <a:t>핵심 샷 &amp; 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0881360" cy="420624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1024128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4D5E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Verse: 어두운 실내, 키보드 앞 인물 — 카메라 서서히 푸시인 (블루)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4D5E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Chorus '一遍 一遍': 같은 안무 반복 + 6인 대칭 포메이션 = 무한루프 훅 (레드)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4D5E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Leavin'(무음): 단일 백라이트 실루엣 · 슬로모 — 강한 반전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4D5E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Bridge→Chorus3: 옥상으로 이동, 골든아워 정점에서 빛 폭발 (웜)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一遍一遍 · ADD · MV PITCH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86868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73423" cy="109728"/>
          </a:xfrm>
          <a:prstGeom prst="rect">
            <a:avLst/>
          </a:prstGeom>
          <a:solidFill>
            <a:srgbClr val="2F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73423" cy="109728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73423" cy="109728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DDC84"/>
                </a:solidFill>
                <a:latin typeface="Arial"/>
              </a:rPr>
              <a:t>BUDGET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4124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ECEEF4"/>
                </a:solidFill>
                <a:latin typeface="Arial"/>
              </a:rPr>
              <a:t>예산 전략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0881360" cy="420624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1024128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DDC84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로케비: 0원 — 옌자오/톈퉁위안 등 공공 도시 공간 활용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DDC84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미술: 공간이 곧 미술 (이미 지어진 반복 도시)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DDC84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장비: 짐벌 1 + 헤이즈 + 자연광/실내 소형 조명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DDC84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핵심 절약: 단일 로케 + 원테이크 = 컷·세트·이동·인력 최소화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一遍一遍 · ADD · MV PITCH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868680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73423" cy="109728"/>
          </a:xfrm>
          <a:prstGeom prst="rect">
            <a:avLst/>
          </a:prstGeom>
          <a:solidFill>
            <a:srgbClr val="2F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73423" cy="109728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73423" cy="109728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8CFF"/>
                </a:solidFill>
                <a:latin typeface="Arial"/>
              </a:rP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4124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ECEEF4"/>
                </a:solidFill>
                <a:latin typeface="Arial"/>
              </a:rPr>
              <a:t>ADD 6인 + 크루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0881360" cy="420624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1024128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8CFF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ADD — 张瑞希 Zhang Ruixi / 朱梓豪 Zhu Zihao / 陈俊旭 Chen Junxu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8CFF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ADD — 王世成 Wang Shicheng / 黄一珈 Huang Yijia / 沈逸峰 Shen Yifeng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8CFF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운용: Verse=1인 리드 서사(A) + Chorus=6인 군무(B) 하이브리드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8CFF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Crew(최소): 감독 1 · 짐벌 오퍼레이터 1 · 조명/헤이즈 1 · 연출부 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一遍一遍 · ADD · MV PITCH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868680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73423" cy="109728"/>
          </a:xfrm>
          <a:prstGeom prst="rect">
            <a:avLst/>
          </a:prstGeom>
          <a:solidFill>
            <a:srgbClr val="2F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73423" cy="109728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73423" cy="109728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B24D"/>
                </a:solidFill>
                <a:latin typeface="Arial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4124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ECEEF4"/>
                </a:solidFill>
                <a:latin typeface="Arial"/>
              </a:rPr>
              <a:t>다음 스텝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0881360" cy="420624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1024128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B24D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NEXT 1: 로케 헌팅 — 옌자오/톈퉁위안 옥상·고층 빈집 확인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B24D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NEXT 2: 선셋 시간표 + 콜시트 (골든아워 역산)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B24D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NEXT 3: 6인 포메이션·파트 분배 콘티 확정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B24D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NEXT 4: 실제 로케 사진으로 키프레임 재생성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B24D"/>
                </a:solidFill>
                <a:latin typeface="Arial"/>
              </a:rPr>
              <a:t>›  </a:t>
            </a:r>
            <a:r>
              <a:rPr sz="1500" b="0">
                <a:solidFill>
                  <a:srgbClr val="ECEEF4"/>
                </a:solidFill>
                <a:latin typeface="Arial"/>
              </a:rPr>
              <a:t>NEXT 5: 원테이크 리허설 → 촬영(원데이 목표)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一遍一遍 · ADD · MV PITCH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868680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73423" cy="109728"/>
          </a:xfrm>
          <a:prstGeom prst="rect">
            <a:avLst/>
          </a:prstGeom>
          <a:solidFill>
            <a:srgbClr val="2F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73423" cy="109728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73423" cy="109728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B24D"/>
                </a:solidFill>
                <a:latin typeface="Arial"/>
              </a:rPr>
              <a:t>THE 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4124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ECEEF4"/>
                </a:solidFill>
                <a:latin typeface="Arial"/>
              </a:rPr>
              <a:t>경쟁 우위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420624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3DD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3DDC84"/>
                </a:solidFill>
                <a:latin typeface="Arial"/>
              </a:rPr>
              <a:t>OUR ADVANTAGES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48463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DDC84"/>
                </a:solidFill>
                <a:latin typeface="Arial"/>
              </a:rPr>
              <a:t>•  </a:t>
            </a:r>
            <a:r>
              <a:rPr sz="1400" b="0">
                <a:solidFill>
                  <a:srgbClr val="ECEEF4"/>
                </a:solidFill>
                <a:latin typeface="Arial"/>
              </a:rPr>
              <a:t>이미 지어진 도시 = 0원 미술, 무한 스케일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DDC84"/>
                </a:solidFill>
                <a:latin typeface="Arial"/>
              </a:rPr>
              <a:t>•  </a:t>
            </a:r>
            <a:r>
              <a:rPr sz="1400" b="0">
                <a:solidFill>
                  <a:srgbClr val="ECEEF4"/>
                </a:solidFill>
                <a:latin typeface="Arial"/>
              </a:rPr>
              <a:t>원테이크 = 몰입감 + 제작 단가 절감 동시 달성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DDC84"/>
                </a:solidFill>
                <a:latin typeface="Arial"/>
              </a:rPr>
              <a:t>•  </a:t>
            </a:r>
            <a:r>
              <a:rPr sz="1400" b="0">
                <a:solidFill>
                  <a:srgbClr val="ECEEF4"/>
                </a:solidFill>
                <a:latin typeface="Arial"/>
              </a:rPr>
              <a:t>반복 구도가 곡 콘셉트와 1:1로 맞물림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DDC84"/>
                </a:solidFill>
                <a:latin typeface="Arial"/>
              </a:rPr>
              <a:t>•  </a:t>
            </a:r>
            <a:r>
              <a:rPr sz="1400" b="0">
                <a:solidFill>
                  <a:srgbClr val="ECEEF4"/>
                </a:solidFill>
                <a:latin typeface="Arial"/>
              </a:rPr>
              <a:t>실제 선셋 = 돈 안 드는 최고급 조명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5349240" cy="4206240"/>
          </a:xfrm>
          <a:prstGeom prst="roundRect">
            <a:avLst/>
          </a:prstGeom>
          <a:solidFill>
            <a:srgbClr val="171A22"/>
          </a:solidFill>
          <a:ln w="12700">
            <a:solidFill>
              <a:srgbClr val="9AA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9AA0B0"/>
                </a:solidFill>
                <a:latin typeface="Arial"/>
              </a:rPr>
              <a:t>AVOIDING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560320"/>
            <a:ext cx="48463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AA0B0"/>
                </a:solidFill>
                <a:latin typeface="Arial"/>
              </a:rPr>
              <a:t>•  </a:t>
            </a:r>
            <a:r>
              <a:rPr sz="1400" b="0">
                <a:solidFill>
                  <a:srgbClr val="ECEEF4"/>
                </a:solidFill>
                <a:latin typeface="Arial"/>
              </a:rPr>
              <a:t>고가 LED월/버추얼 스튜디오 (대여+콘텐츠 비용)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AA0B0"/>
                </a:solidFill>
                <a:latin typeface="Arial"/>
              </a:rPr>
              <a:t>•  </a:t>
            </a:r>
            <a:r>
              <a:rPr sz="1400" b="0">
                <a:solidFill>
                  <a:srgbClr val="ECEEF4"/>
                </a:solidFill>
                <a:latin typeface="Arial"/>
              </a:rPr>
              <a:t>대형 세트 제작 (시공비·철거비)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AA0B0"/>
                </a:solidFill>
                <a:latin typeface="Arial"/>
              </a:rPr>
              <a:t>•  </a:t>
            </a:r>
            <a:r>
              <a:rPr sz="1400" b="0">
                <a:solidFill>
                  <a:srgbClr val="ECEEF4"/>
                </a:solidFill>
                <a:latin typeface="Arial"/>
              </a:rPr>
              <a:t>잦은 컷 편집형 아이돌 MV (식상·고비용)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AA0B0"/>
                </a:solidFill>
                <a:latin typeface="Arial"/>
              </a:rPr>
              <a:t>•  </a:t>
            </a:r>
            <a:r>
              <a:rPr sz="1400" b="0">
                <a:solidFill>
                  <a:srgbClr val="ECEEF4"/>
                </a:solidFill>
                <a:latin typeface="Arial"/>
              </a:rPr>
              <a:t>허가·통제 까다로운 도심 새벽 로케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9AA0B0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一遍一遍 · ADD · MV PITCH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0B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4073423" cy="109728"/>
          </a:xfrm>
          <a:prstGeom prst="rect">
            <a:avLst/>
          </a:prstGeom>
          <a:solidFill>
            <a:srgbClr val="2F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693408"/>
            <a:ext cx="4073423" cy="109728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693408"/>
            <a:ext cx="4073423" cy="109728"/>
          </a:xfrm>
          <a:prstGeom prst="rect">
            <a:avLst/>
          </a:prstGeom>
          <a:solidFill>
            <a:srgbClr val="FFB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ECEEF4"/>
                </a:solidFill>
                <a:latin typeface="Arial"/>
              </a:rPr>
              <a:t>一遍一遍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6118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FB24D"/>
                </a:solidFill>
                <a:latin typeface="Arial"/>
              </a:rPr>
              <a:t>끝없이 반복되는 도시에서, 단 한 번의 선셋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AA0B0"/>
                </a:solidFill>
                <a:latin typeface="Arial"/>
              </a:rPr>
              <a:t>ADD · Beijing · One-location performance film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