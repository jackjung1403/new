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73423" cy="164592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73423" cy="164592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423" cy="164592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A0B0"/>
                </a:solidFill>
                <a:latin typeface="Arial"/>
              </a:rPr>
              <a:t>MUSIC VIDEO · CONCEPT &amp;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CEEF4"/>
                </a:solidFill>
                <a:latin typeface="Arial"/>
              </a:rPr>
              <a:t>一遍 一遍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23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9AA0B0"/>
                </a:solidFill>
                <a:latin typeface="Arial"/>
              </a:rPr>
              <a:t>한 번 또 한 번   ·   ADD (와지지와)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A90A0"/>
                </a:solidFill>
                <a:latin typeface="Arial"/>
              </a:rPr>
              <a:t>Beijing · Ultra–low–budget · One-location performance film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8CFF"/>
                </a:solidFill>
                <a:latin typeface="Arial"/>
              </a:rPr>
              <a:t>THE ARTIST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CEEF4"/>
                </a:solidFill>
                <a:latin typeface="Arial"/>
              </a:rPr>
              <a:t>ADD — 6인조 보이그룹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493776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4805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소속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EF4"/>
                </a:solidFill>
                <a:latin typeface="Arial"/>
              </a:rPr>
              <a:t>와지지와 엔터테인먼트 (Wajijiwa)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데뷔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EF4"/>
                </a:solidFill>
                <a:latin typeface="Arial"/>
              </a:rPr>
              <a:t>2025. 09. 12  ·  〈X-Fire Camp〉 출신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전신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EF4"/>
                </a:solidFill>
                <a:latin typeface="Arial"/>
              </a:rPr>
              <a:t>Xiaowei Music Club (小哇音乐社)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구성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3DDC84"/>
                </a:solidFill>
                <a:latin typeface="Arial"/>
              </a:rPr>
              <a:t>6 MEMBERS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737360"/>
            <a:ext cx="566928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965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377440"/>
            <a:ext cx="310896" cy="310896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6" y="2359152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8C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68296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Arial"/>
              </a:rPr>
              <a:t>张瑞希  Zhang Ruixi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944368"/>
            <a:ext cx="310896" cy="310896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2926080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8C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35224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Arial"/>
              </a:rPr>
              <a:t>朱梓豪  Zhu Zihao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511296"/>
            <a:ext cx="310896" cy="310896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3493008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8C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0215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Arial"/>
              </a:rPr>
              <a:t>陈俊旭  Chen Junxu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78224"/>
            <a:ext cx="310896" cy="310896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405993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8C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6908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Arial"/>
              </a:rPr>
              <a:t>王世成  Wang Shicheng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645152"/>
            <a:ext cx="310896" cy="310896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4626864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8C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36008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Arial"/>
              </a:rPr>
              <a:t>黄一珈  Huang Yijia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5212080"/>
            <a:ext cx="310896" cy="310896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3056" y="5193792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8C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02936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Arial"/>
              </a:rPr>
              <a:t>沈逸峰  Shen Yifeng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 ·  ADD  ·  MV CONCEPT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4D5E"/>
                </a:solidFill>
                <a:latin typeface="Arial"/>
              </a:rPr>
              <a:t>SONG &amp;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CEEF4"/>
                </a:solidFill>
                <a:latin typeface="Arial"/>
              </a:rPr>
              <a:t>곡이 말하는 것 — 새벽까지 깨어 글 쓰는 사람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ECEEF4"/>
                </a:solidFill>
                <a:latin typeface="Arial"/>
              </a:rPr>
              <a:t>주인공은 밤에 키보드로 자기만의 ‘규칙=세계’를 쓰는 사람. </a:t>
            </a:r>
            <a:r>
              <a:rPr sz="1600" b="1">
                <a:solidFill>
                  <a:srgbClr val="FFB24D"/>
                </a:solidFill>
                <a:latin typeface="Arial"/>
              </a:rPr>
              <a:t>동트기 전 그가 본 텅 빈 풍경</a:t>
            </a:r>
            <a:r>
              <a:rPr sz="1600" b="0">
                <a:solidFill>
                  <a:srgbClr val="ECEEF4"/>
                </a:solidFill>
                <a:latin typeface="Arial"/>
              </a:rPr>
              <a:t>이 곡의 정서다.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10881360" cy="137160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CEEF4"/>
                </a:solidFill>
                <a:latin typeface="Arial"/>
              </a:rPr>
              <a:t>“键盘声在回响 / 写下我的规则随便一躺”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0B0"/>
                </a:solidFill>
                <a:latin typeface="Arial"/>
              </a:rPr>
              <a:t>키보드 소리가 울려 퍼지고 / 내 규칙을 적어 내려가며 아무렇게나 드러눕지  — Verse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26280"/>
            <a:ext cx="3520440" cy="1371600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7091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天亮之前我主宰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CEEF4"/>
                </a:solidFill>
                <a:latin typeface="Arial"/>
              </a:rPr>
              <a:t>동트기 전 내가 지배한다 — 새벽의 장악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526280"/>
            <a:ext cx="3520440" cy="1371600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8A9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7091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A90A0"/>
                </a:solidFill>
                <a:latin typeface="Arial"/>
              </a:rPr>
              <a:t>明天醒来世界是空旷一片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CEEF4"/>
                </a:solidFill>
                <a:latin typeface="Arial"/>
              </a:rPr>
              <a:t>내일 깨면 세상은 텅 빈 한 조각 — 공허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4526280"/>
            <a:ext cx="3520440" cy="1371600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47091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4D5E"/>
                </a:solidFill>
                <a:latin typeface="Arial"/>
              </a:rPr>
              <a:t>ADD将干扰撕碎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CEEF4"/>
                </a:solidFill>
                <a:latin typeface="Arial"/>
              </a:rPr>
              <a:t>그룹명 ADD를 가사에 박은 셀프 레퍼런스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 ·  ADD  ·  MV CONCEPT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24D"/>
                </a:solidFill>
                <a:latin typeface="Arial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CEEF4"/>
                </a:solidFill>
                <a:latin typeface="Arial"/>
              </a:rPr>
              <a:t>끝없이 반복되는 콘크리트 = 一遍 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ECEEF4"/>
                </a:solidFill>
                <a:latin typeface="Arial"/>
              </a:rPr>
              <a:t>모두가 사라진 텅 빈 도시. 똑같이 </a:t>
            </a:r>
            <a:r>
              <a:rPr sz="1700" b="1">
                <a:solidFill>
                  <a:srgbClr val="FFB24D"/>
                </a:solidFill>
                <a:latin typeface="Arial"/>
              </a:rPr>
              <a:t>무한 반복되는 콘크리트 빌딩</a:t>
            </a:r>
            <a:r>
              <a:rPr sz="1700" b="0">
                <a:solidFill>
                  <a:srgbClr val="ECEEF4"/>
                </a:solidFill>
                <a:latin typeface="Arial"/>
              </a:rPr>
              <a:t>이 곧 후렴 ‘一遍 一遍’의 시각적 번역이 된다. </a:t>
            </a:r>
            <a:r>
              <a:rPr sz="1700" b="1">
                <a:solidFill>
                  <a:srgbClr val="3DDC84"/>
                </a:solidFill>
                <a:latin typeface="Arial"/>
              </a:rPr>
              <a:t>이미 지어진 도시라 세트비 0원.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5349240" cy="128016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B24D"/>
                </a:solidFill>
                <a:latin typeface="Arial"/>
              </a:rPr>
              <a:t>無限 반복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똑같은 빌딩의 복붙 = 곡의 반복 구조를 그대로 영상화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926080"/>
            <a:ext cx="5349240" cy="128016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10896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B24D"/>
                </a:solidFill>
                <a:latin typeface="Arial"/>
              </a:rPr>
              <a:t>孤独 → 支配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압도적 스케일 속 인물 = 고독한 지배자 정서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5349240" cy="128016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B24D"/>
                </a:solidFill>
                <a:latin typeface="Arial"/>
              </a:rPr>
              <a:t>空旷 한 조각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텅 빈 도시 = ‘明天醒来…空旷一片’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389120"/>
            <a:ext cx="5349240" cy="128016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57200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B24D"/>
                </a:solidFill>
                <a:latin typeface="Arial"/>
              </a:rPr>
              <a:t>0원 미술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공간이 곧 미술. 초저예산 최적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 ·  ADD  ·  MV CONCEPT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8CFF"/>
                </a:solidFill>
                <a:latin typeface="Arial"/>
              </a:rPr>
              <a:t>VISUAL 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CEEF4"/>
                </a:solidFill>
                <a:latin typeface="Arial"/>
              </a:rPr>
              <a:t>톤 아크 — 조명만 바꿔 한 공간에서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97480" cy="2468880"/>
          </a:xfrm>
          <a:prstGeom prst="roundRect">
            <a:avLst/>
          </a:prstGeom>
          <a:solidFill>
            <a:srgbClr val="1E2E52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B8CFF"/>
                </a:solidFill>
                <a:latin typeface="Arial"/>
              </a:rPr>
              <a:t>① 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CEEF4"/>
                </a:solidFill>
                <a:latin typeface="Arial"/>
              </a:rPr>
              <a:t>고독 · 글 쓰는 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069080"/>
            <a:ext cx="1188720" cy="292608"/>
          </a:xfrm>
          <a:prstGeom prst="roundRect">
            <a:avLst/>
          </a:prstGeom>
          <a:noFill/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8CFF"/>
                </a:solidFill>
                <a:latin typeface="Arial"/>
              </a:rPr>
              <a:t>Verse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20240"/>
            <a:ext cx="2697480" cy="2468880"/>
          </a:xfrm>
          <a:prstGeom prst="roundRect">
            <a:avLst/>
          </a:prstGeom>
          <a:solidFill>
            <a:srgbClr val="4A161C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4884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4D5E"/>
                </a:solidFill>
                <a:latin typeface="Arial"/>
              </a:rPr>
              <a:t>② 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6576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CEEF4"/>
                </a:solidFill>
                <a:latin typeface="Arial"/>
              </a:rPr>
              <a:t>지배 · 세상 반전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069080"/>
            <a:ext cx="1188720" cy="292608"/>
          </a:xfrm>
          <a:prstGeom prst="roundRect">
            <a:avLst/>
          </a:prstGeom>
          <a:noFill/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406908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4D5E"/>
                </a:solidFill>
                <a:latin typeface="Arial"/>
              </a:rPr>
              <a:t>Chorus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697480" cy="24688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8A9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8A90A0"/>
                </a:solidFill>
                <a:latin typeface="Arial"/>
              </a:rPr>
              <a:t>BLACK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576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CEEF4"/>
                </a:solidFill>
                <a:latin typeface="Arial"/>
              </a:rPr>
              <a:t>무음 · 실루엣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069080"/>
            <a:ext cx="1188720" cy="292608"/>
          </a:xfrm>
          <a:prstGeom prst="roundRect">
            <a:avLst/>
          </a:prstGeom>
          <a:noFill/>
          <a:ln w="12700">
            <a:solidFill>
              <a:srgbClr val="8A9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6908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A90A0"/>
                </a:solidFill>
                <a:latin typeface="Arial"/>
              </a:rPr>
              <a:t>Leavin’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1920240"/>
            <a:ext cx="2697480" cy="2468880"/>
          </a:xfrm>
          <a:prstGeom prst="roundRect">
            <a:avLst/>
          </a:prstGeom>
          <a:solidFill>
            <a:srgbClr val="4A3312"/>
          </a:solidFill>
          <a:ln w="12700">
            <a:solidFill>
              <a:srgbClr val="FFB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39" y="214884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B24D"/>
                </a:solidFill>
                <a:latin typeface="Arial"/>
              </a:rPr>
              <a:t>③ WARM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39" y="36576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CEEF4"/>
                </a:solidFill>
                <a:latin typeface="Arial"/>
              </a:rPr>
              <a:t>해방 · 선셋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39" y="4069080"/>
            <a:ext cx="1188720" cy="292608"/>
          </a:xfrm>
          <a:prstGeom prst="roundRect">
            <a:avLst/>
          </a:prstGeom>
          <a:noFill/>
          <a:ln w="12700">
            <a:solidFill>
              <a:srgbClr val="FFB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406908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B24D"/>
                </a:solidFill>
                <a:latin typeface="Arial"/>
              </a:rPr>
              <a:t>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548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AA0B0"/>
                </a:solidFill>
                <a:latin typeface="Arial"/>
              </a:rPr>
              <a:t>키프레임(AI 레퍼런스) 원본 — 실제 사진은 옌자오/톈퉁위안 로케로 대체: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0A0"/>
                </a:solidFill>
                <a:latin typeface="Arial"/>
              </a:rPr>
              <a:t>blue · red · silhouette · sunrise · concrete  (cloudfront 링크는 룩북 HTML 참조)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 ·  ADD  ·  MV CONCEPT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8A9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A90A0"/>
                </a:solidFill>
                <a:latin typeface="Arial"/>
              </a:rPr>
              <a:t>KEY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CEEF4"/>
                </a:solidFill>
                <a:latin typeface="Arial"/>
              </a:rPr>
              <a:t>핵심 비주얼 — 콘크리트 매트릭스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766560" cy="4114800"/>
          </a:xfrm>
          <a:prstGeom prst="roundRect">
            <a:avLst/>
          </a:prstGeom>
          <a:solidFill>
            <a:srgbClr val="3A3D44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703320"/>
            <a:ext cx="457200" cy="2194560"/>
          </a:xfrm>
          <a:prstGeom prst="rect">
            <a:avLst/>
          </a:prstGeom>
          <a:solidFill>
            <a:srgbClr val="4A4E57"/>
          </a:solidFill>
          <a:ln w="6350">
            <a:solidFill>
              <a:srgbClr val="5A5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3544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0704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7864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97864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97864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0704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97864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0704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97864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0704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97864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7864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0704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97864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53895" y="3246120"/>
            <a:ext cx="457200" cy="2651760"/>
          </a:xfrm>
          <a:prstGeom prst="rect">
            <a:avLst/>
          </a:prstGeom>
          <a:solidFill>
            <a:srgbClr val="4A4E57"/>
          </a:solidFill>
          <a:ln w="6350">
            <a:solidFill>
              <a:srgbClr val="5A5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08760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45919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83080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08760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45919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83080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08760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45919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783080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08760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45919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83080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508760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45919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83080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508760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45919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783080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508760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45919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783080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08760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45919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83080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08760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645919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783080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508760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45919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83080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39112" y="2788920"/>
            <a:ext cx="457200" cy="3108960"/>
          </a:xfrm>
          <a:prstGeom prst="rect">
            <a:avLst/>
          </a:prstGeom>
          <a:solidFill>
            <a:srgbClr val="4A4E57"/>
          </a:solidFill>
          <a:ln w="6350">
            <a:solidFill>
              <a:srgbClr val="5A5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093976" y="29260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31136" y="29260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368296" y="29260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093976" y="31821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31136" y="31821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368296" y="31821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093976" y="34381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31136" y="34381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368296" y="34381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093976" y="36941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231136" y="36941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368296" y="36941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093976" y="39502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231136" y="39502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368296" y="39502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093976" y="42062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231136" y="42062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368296" y="42062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093976" y="44622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231136" y="44622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368296" y="44622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093976" y="47183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231136" y="47183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368296" y="47183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093976" y="49743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231136" y="49743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368296" y="49743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093976" y="52303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231136" y="52303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368296" y="52303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093976" y="548640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231136" y="548640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368296" y="548640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093976" y="574243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231136" y="574243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368296" y="574243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624328" y="3703320"/>
            <a:ext cx="457200" cy="2194560"/>
          </a:xfrm>
          <a:prstGeom prst="rect">
            <a:avLst/>
          </a:prstGeom>
          <a:solidFill>
            <a:srgbClr val="4A4E57"/>
          </a:solidFill>
          <a:ln w="6350">
            <a:solidFill>
              <a:srgbClr val="5A5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679192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816352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953512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79192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816352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953512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679192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816352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953512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679192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816352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953512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679192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816352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953512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679192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816352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53512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679192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816352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953512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679192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816352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953512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209544" y="3246120"/>
            <a:ext cx="457200" cy="2651760"/>
          </a:xfrm>
          <a:prstGeom prst="rect">
            <a:avLst/>
          </a:prstGeom>
          <a:solidFill>
            <a:srgbClr val="4A4E57"/>
          </a:solidFill>
          <a:ln w="6350">
            <a:solidFill>
              <a:srgbClr val="5A5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264408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401568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538727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264408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401568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538727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264408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401568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538727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264408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401568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538727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264408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401568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538727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264408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401568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538727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264408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401568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538727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264408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401568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538727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264408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401568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538727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264408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401568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538727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794760" y="2788920"/>
            <a:ext cx="457200" cy="3108960"/>
          </a:xfrm>
          <a:prstGeom prst="rect">
            <a:avLst/>
          </a:prstGeom>
          <a:solidFill>
            <a:srgbClr val="4A4E57"/>
          </a:solidFill>
          <a:ln w="6350">
            <a:solidFill>
              <a:srgbClr val="5A5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849624" y="29260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986784" y="29260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123944" y="29260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849624" y="31821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986784" y="31821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123944" y="31821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849624" y="34381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986784" y="34381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123944" y="34381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849624" y="36941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986784" y="36941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123944" y="36941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849624" y="39502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986784" y="39502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123944" y="39502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849624" y="42062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986784" y="42062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123944" y="42062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849624" y="44622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986784" y="44622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123944" y="44622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849624" y="47183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986784" y="47183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123944" y="47183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849624" y="49743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986784" y="49743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123944" y="49743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849624" y="52303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3986784" y="52303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123944" y="52303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849624" y="548640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986784" y="548640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123944" y="548640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849624" y="574243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986784" y="574243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123944" y="574243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379976" y="3703320"/>
            <a:ext cx="457200" cy="2194560"/>
          </a:xfrm>
          <a:prstGeom prst="rect">
            <a:avLst/>
          </a:prstGeom>
          <a:solidFill>
            <a:srgbClr val="4A4E57"/>
          </a:solidFill>
          <a:ln w="6350">
            <a:solidFill>
              <a:srgbClr val="5A5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434840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572000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709159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434840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572000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709159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434840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4572000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4709159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434840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572000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709159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434840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572000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709159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434840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4572000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709159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434840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572000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709159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434840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572000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709159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965192" y="3246120"/>
            <a:ext cx="457200" cy="2651760"/>
          </a:xfrm>
          <a:prstGeom prst="rect">
            <a:avLst/>
          </a:prstGeom>
          <a:solidFill>
            <a:srgbClr val="4A4E57"/>
          </a:solidFill>
          <a:ln w="6350">
            <a:solidFill>
              <a:srgbClr val="5A5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020056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157216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294376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5020056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157216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294376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020056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157216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294376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5020056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157216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294376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020056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157216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294376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020056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157216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294376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020056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157216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294376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020056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157216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294376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5020056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5157216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294376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020056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157216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294376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550408" y="2788920"/>
            <a:ext cx="457200" cy="3108960"/>
          </a:xfrm>
          <a:prstGeom prst="rect">
            <a:avLst/>
          </a:prstGeom>
          <a:solidFill>
            <a:srgbClr val="4A4E57"/>
          </a:solidFill>
          <a:ln w="6350">
            <a:solidFill>
              <a:srgbClr val="5A5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5605272" y="29260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742432" y="29260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5879592" y="29260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5605272" y="31821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5742432" y="31821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5879592" y="31821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5605272" y="34381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5742432" y="34381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5879592" y="34381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5605272" y="36941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5742432" y="36941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5879592" y="36941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5605272" y="39502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742432" y="39502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5879592" y="39502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5605272" y="42062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5742432" y="42062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5879592" y="42062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5605272" y="44622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5742432" y="44622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5879592" y="44622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5605272" y="47183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5742432" y="47183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5879592" y="47183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605272" y="49743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5742432" y="49743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5879592" y="49743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5605272" y="52303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5742432" y="52303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5879592" y="52303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5605272" y="548640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5742432" y="548640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5879592" y="548640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5605272" y="574243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5742432" y="574243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5879592" y="574243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6135624" y="3703320"/>
            <a:ext cx="457200" cy="2194560"/>
          </a:xfrm>
          <a:prstGeom prst="rect">
            <a:avLst/>
          </a:prstGeom>
          <a:solidFill>
            <a:srgbClr val="4A4E57"/>
          </a:solidFill>
          <a:ln w="6350">
            <a:solidFill>
              <a:srgbClr val="5A5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6190488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6327648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6464807" y="38404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6190488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6327648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6464807" y="40965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190488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6327648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6464807" y="43525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6190488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6327648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6464807" y="46085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6190488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6327648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6464807" y="48646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6190488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6327648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6464807" y="51206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6190488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6327648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6464807" y="53766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6190488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6327648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6464807" y="56327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6720840" y="3246120"/>
            <a:ext cx="457200" cy="2651760"/>
          </a:xfrm>
          <a:prstGeom prst="rect">
            <a:avLst/>
          </a:prstGeom>
          <a:solidFill>
            <a:srgbClr val="4A4E57"/>
          </a:solidFill>
          <a:ln w="6350">
            <a:solidFill>
              <a:srgbClr val="5A5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6775704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6912864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7050024" y="338328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775704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912864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050024" y="363931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6775704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6912864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7050024" y="389534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6775704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6912864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7050024" y="415137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6775704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6912864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7050024" y="440740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6775704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6912864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7050024" y="4663440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6775704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6912864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7050024" y="4919472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6775704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6912864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7050024" y="5175504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6775704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6912864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7050024" y="5431536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6775704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6912864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7050024" y="5687568"/>
            <a:ext cx="73152" cy="109728"/>
          </a:xfrm>
          <a:prstGeom prst="rect">
            <a:avLst/>
          </a:prstGeom>
          <a:solidFill>
            <a:srgbClr val="6A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3931920" y="5532120"/>
            <a:ext cx="109728" cy="292608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822960" y="54864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0E0E0"/>
                </a:solidFill>
                <a:latin typeface="Arial"/>
              </a:rPr>
              <a:t>▲ 텅 빈 광장 정중앙의 인물 1명 + 무한 복붙 콘크리트 (AI 키프레임)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7680960" y="1920240"/>
            <a:ext cx="39319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A90A0"/>
                </a:solidFill>
                <a:latin typeface="Arial"/>
              </a:rPr>
              <a:t>WHY IT WORKS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Arial"/>
              </a:rPr>
              <a:t>• 반복 빌딩 = ‘一遍 一遍’ 직역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Arial"/>
              </a:rPr>
              <a:t>• 회색 무채색 = 차가운 무드 베이스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Arial"/>
              </a:rPr>
              <a:t>• 후렴서 레드 / 선셋 웜 얹어 대비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Arial"/>
              </a:rPr>
              <a:t>• 옌자오·톈퉁위안 실사 = 로케비 0원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A90A0"/>
                </a:solidFill>
                <a:latin typeface="Arial"/>
              </a:rPr>
              <a:t>REFERENCE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0B0"/>
                </a:solidFill>
                <a:latin typeface="Arial"/>
              </a:rPr>
              <a:t>张瑞希 외 5인 — 6인 대칭 포메이션을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0B0"/>
                </a:solidFill>
                <a:latin typeface="Arial"/>
              </a:rPr>
              <a:t>이 반복 구도 한가운데 배치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 ·  ADD  ·  MV CONCEPT DECK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8CFF"/>
                </a:solidFill>
                <a:latin typeface="Arial"/>
              </a:rPr>
              <a:t>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CEEF4"/>
                </a:solidFill>
                <a:latin typeface="Arial"/>
              </a:rPr>
              <a:t>로케이션 — 베이징, 전부 무료 공공 공간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1440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CEEF4"/>
                </a:solidFill>
                <a:latin typeface="Arial"/>
              </a:rPr>
              <a:t>燕郊 옌자오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2039112"/>
            <a:ext cx="1554480" cy="402336"/>
          </a:xfrm>
          <a:prstGeom prst="roundRect">
            <a:avLst/>
          </a:prstGeom>
          <a:noFill/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41648" y="2039112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DC84"/>
                </a:solidFill>
                <a:latin typeface="Arial"/>
              </a:rPr>
              <a:t>★ 1순위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901952"/>
            <a:ext cx="5577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0B0"/>
                </a:solidFill>
                <a:latin typeface="Arial"/>
              </a:rPr>
              <a:t>반복 빌딩 + 낮엔 텅 빈 거리 + 가까움. 베드타운.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25496"/>
            <a:ext cx="10881360" cy="91440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8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CEEF4"/>
                </a:solidFill>
                <a:latin typeface="Arial"/>
              </a:rPr>
              <a:t>天通苑 톈퉁위안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081528"/>
            <a:ext cx="1554480" cy="402336"/>
          </a:xfrm>
          <a:prstGeom prst="roundRect">
            <a:avLst/>
          </a:prstGeom>
          <a:noFill/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3081528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8CFF"/>
                </a:solidFill>
                <a:latin typeface="Arial"/>
              </a:rPr>
              <a:t>반복 최강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944368"/>
            <a:ext cx="5577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0B0"/>
                </a:solidFill>
                <a:latin typeface="Arial"/>
              </a:rPr>
              <a:t>아시아 최대 단지(70만). 지하철 접근. 콘크리트 협곡.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67911"/>
            <a:ext cx="10881360" cy="91440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86783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CEEF4"/>
                </a:solidFill>
                <a:latin typeface="Arial"/>
              </a:rPr>
              <a:t>回龙观 후이룽관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123944"/>
            <a:ext cx="1554480" cy="402336"/>
          </a:xfrm>
          <a:prstGeom prst="roundRect">
            <a:avLst/>
          </a:prstGeom>
          <a:noFill/>
          <a:ln w="12700">
            <a:solidFill>
              <a:srgbClr val="9A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1648" y="4123944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대안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986783"/>
            <a:ext cx="5577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0B0"/>
                </a:solidFill>
                <a:latin typeface="Arial"/>
              </a:rPr>
              <a:t>옆 초대형 단지. 보조 로케.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10328"/>
            <a:ext cx="10881360" cy="91440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CEEF4"/>
                </a:solidFill>
                <a:latin typeface="Arial"/>
              </a:rPr>
              <a:t>옥상 / 고층 빈집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5166360"/>
            <a:ext cx="1554480" cy="402336"/>
          </a:xfrm>
          <a:prstGeom prst="roundRect">
            <a:avLst/>
          </a:prstGeom>
          <a:noFill/>
          <a:ln w="12700">
            <a:solidFill>
              <a:srgbClr val="FFB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5166360"/>
            <a:ext cx="15179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24D"/>
                </a:solidFill>
                <a:latin typeface="Arial"/>
              </a:rPr>
              <a:t>원테이크 코어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029200"/>
            <a:ext cx="5577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0B0"/>
                </a:solidFill>
                <a:latin typeface="Arial"/>
              </a:rPr>
              <a:t>작가의 방 + 창밖 반복 도시 + 선셋, 한 공간에.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 ·  ADD  ·  MV CONCEPT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24D"/>
                </a:solidFill>
                <a:latin typeface="Arial"/>
              </a:rP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CEEF4"/>
                </a:solidFill>
                <a:latin typeface="Arial"/>
              </a:rPr>
              <a:t>연출 — 단일 로케 · 원테이크 · 선셋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49240" cy="12344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FFB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B24D"/>
                </a:solidFill>
                <a:latin typeface="Arial"/>
              </a:rPr>
              <a:t>ONE LOCATION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옥상/고층 빈집 1곳. 실내(작가의 방) ↔ 창밖·옥상(반복 도시) 연결.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349240" cy="12344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93392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B8CFF"/>
                </a:solidFill>
                <a:latin typeface="Arial"/>
              </a:rPr>
              <a:t>ONE-TAKE FILM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컷을 쪼개지 않고 짐벌로 끊김 없이. ‘반복’을 카메라 흐름으로.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5349240" cy="12344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10712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4D5E"/>
                </a:solidFill>
                <a:latin typeface="Arial"/>
              </a:rPr>
              <a:t>REAL SUNSET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골든아워를 클라이맥스로. 블루(밤) → 웜(해방) 자연 전환.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349240" cy="12344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10712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DDC84"/>
                </a:solidFill>
                <a:latin typeface="Arial"/>
              </a:rPr>
              <a:t>MINIMAL GEAR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자연광 + 짐벌 1대 + 헤이즈. 게릴라 핸드헬드.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881360" cy="960120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24D"/>
                </a:solidFill>
                <a:latin typeface="Arial"/>
              </a:rPr>
              <a:t>TIP  </a:t>
            </a:r>
            <a:r>
              <a:rPr sz="1300" b="0">
                <a:solidFill>
                  <a:srgbClr val="ECEEF4"/>
                </a:solidFill>
                <a:latin typeface="Arial"/>
              </a:rPr>
              <a:t>가사 정서는 ‘새벽’이지만 촬영은 선셋 골든아워가 압도적으로 유리 → 선셋을 찍고 새벽처럼 연출(블루→웜). 관객은 방향을 모른다.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 ·  ADD  ·  MV CONCEPT 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8CFF"/>
                </a:solidFill>
                <a:latin typeface="Arial"/>
              </a:rPr>
              <a:t>STORYBOARD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CEEF4"/>
                </a:solidFill>
                <a:latin typeface="Arial"/>
              </a:rPr>
              <a:t>구간별 샷 리스트 (단일 공간 원테이크)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solidFill>
            <a:srgbClr val="20242F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594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8288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0B0"/>
                </a:solidFill>
                <a:latin typeface="Arial"/>
              </a:rPr>
              <a:t>TONE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10881360" cy="713232"/>
          </a:xfrm>
          <a:prstGeom prst="rect">
            <a:avLst/>
          </a:prstGeom>
          <a:solidFill>
            <a:srgbClr val="171A22"/>
          </a:solidFill>
          <a:ln w="635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CEEF4"/>
                </a:solidFill>
                <a:latin typeface="Arial"/>
              </a:rPr>
              <a:t>Verse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86000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FD3DD"/>
                </a:solidFill>
                <a:latin typeface="Arial"/>
              </a:rPr>
              <a:t>어두운 실내, 책상·키보드 앞 인물. 카메라 서서히 다가감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8600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8CFF"/>
                </a:solidFill>
                <a:latin typeface="Arial"/>
              </a:rPr>
              <a:t>BLUE 블루·헤이즈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99232"/>
            <a:ext cx="10881360" cy="713232"/>
          </a:xfrm>
          <a:prstGeom prst="rect">
            <a:avLst/>
          </a:prstGeom>
          <a:solidFill>
            <a:srgbClr val="0D0E12"/>
          </a:solidFill>
          <a:ln w="635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99232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CEEF4"/>
                </a:solidFill>
                <a:latin typeface="Arial"/>
              </a:rPr>
              <a:t>Pre · Chorus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99232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FD3DD"/>
                </a:solidFill>
                <a:latin typeface="Arial"/>
              </a:rPr>
              <a:t>창가로 이동 → 창밖 반복 도시 드러남. 퍼포먼스 시작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999232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4D5E"/>
                </a:solidFill>
                <a:latin typeface="Arial"/>
              </a:rPr>
              <a:t>RED 레드 반전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12464"/>
            <a:ext cx="10881360" cy="713232"/>
          </a:xfrm>
          <a:prstGeom prst="rect">
            <a:avLst/>
          </a:prstGeom>
          <a:solidFill>
            <a:srgbClr val="171A22"/>
          </a:solidFill>
          <a:ln w="635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12464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CEEF4"/>
                </a:solidFill>
                <a:latin typeface="Arial"/>
              </a:rPr>
              <a:t>‘一遍 一遍’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712464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FD3DD"/>
                </a:solidFill>
                <a:latin typeface="Arial"/>
              </a:rPr>
              <a:t>같은 안무 반복 / 6인 대칭 포메이션 = 무한루프 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712464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4D5E"/>
                </a:solidFill>
                <a:latin typeface="Arial"/>
              </a:rPr>
              <a:t>RED 점멸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25696"/>
            <a:ext cx="10881360" cy="713232"/>
          </a:xfrm>
          <a:prstGeom prst="rect">
            <a:avLst/>
          </a:prstGeom>
          <a:solidFill>
            <a:srgbClr val="0D0E12"/>
          </a:solidFill>
          <a:ln w="635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25696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CEEF4"/>
                </a:solidFill>
                <a:latin typeface="Arial"/>
              </a:rPr>
              <a:t>Leavin’ (무음)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425696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FD3DD"/>
                </a:solidFill>
                <a:latin typeface="Arial"/>
              </a:rPr>
              <a:t>조명 다 끄고 단일 백라이트 실루엣 · 슬로모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425696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A90A0"/>
                </a:solidFill>
                <a:latin typeface="Arial"/>
              </a:rPr>
              <a:t>BLACK 정적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38928"/>
            <a:ext cx="10881360" cy="713232"/>
          </a:xfrm>
          <a:prstGeom prst="rect">
            <a:avLst/>
          </a:prstGeom>
          <a:solidFill>
            <a:srgbClr val="171A22"/>
          </a:solidFill>
          <a:ln w="635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38928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CEEF4"/>
                </a:solidFill>
                <a:latin typeface="Arial"/>
              </a:rPr>
              <a:t>Verse 2 · Bridge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138928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FD3DD"/>
                </a:solidFill>
                <a:latin typeface="Arial"/>
              </a:rPr>
              <a:t>옥상으로(문 통과=공간 연결). 도시 배경 안무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5138928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24D"/>
                </a:solidFill>
                <a:latin typeface="Arial"/>
              </a:rPr>
              <a:t>→ 골든아워 전환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52160"/>
            <a:ext cx="10881360" cy="713232"/>
          </a:xfrm>
          <a:prstGeom prst="rect">
            <a:avLst/>
          </a:prstGeom>
          <a:solidFill>
            <a:srgbClr val="0D0E12"/>
          </a:solidFill>
          <a:ln w="635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52160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CEEF4"/>
                </a:solidFill>
                <a:latin typeface="Arial"/>
              </a:rPr>
              <a:t>Chorus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852160"/>
            <a:ext cx="5852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FD3DD"/>
                </a:solidFill>
                <a:latin typeface="Arial"/>
              </a:rPr>
              <a:t>골든아워 정점, 빛 쏟아짐, 가장 넓은 앵글 마무리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585216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24D"/>
                </a:solidFill>
                <a:latin typeface="Arial"/>
              </a:rPr>
              <a:t>WARM 일출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 ·  ADD  ·  MV CONCEPT DECK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DC84"/>
                </a:solidFill>
                <a:latin typeface="Arial"/>
              </a:rPr>
              <a:t>6-MEMBER BLOCKING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CEEF4"/>
                </a:solidFill>
                <a:latin typeface="Arial"/>
              </a:rPr>
              <a:t>6인 운용 — 하이브리드 추천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219456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5B8CFF"/>
                </a:solidFill>
                <a:latin typeface="Arial"/>
              </a:rPr>
              <a:t>A · 1인 리드 서사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‘글 쓰는 나’를 센터가 맡고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나머지 5인은 그가 본 도시 속 존재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219456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4D5E"/>
                </a:solidFill>
                <a:latin typeface="Arial"/>
              </a:rPr>
              <a:t>B · 6인 군무 중심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6명 모두 불면자.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반복 옥상에서 6인 대칭 포메이션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383280" cy="2194560"/>
          </a:xfrm>
          <a:prstGeom prst="roundRect">
            <a:avLst/>
          </a:prstGeom>
          <a:solidFill>
            <a:srgbClr val="10210F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2926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DDC84"/>
                </a:solidFill>
                <a:latin typeface="Arial"/>
              </a:rPr>
              <a:t>★ HYBRID (추천)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Verse = A (개별 서사)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Chorus = B (6인 군무)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0B0"/>
                </a:solidFill>
                <a:latin typeface="Arial"/>
              </a:rPr>
              <a:t>곡 구조(고독한 벌스 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0B0"/>
                </a:solidFill>
                <a:latin typeface="Arial"/>
              </a:rPr>
              <a:t>폭발 후렴)에 정확히 일치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DDC84"/>
                </a:solidFill>
                <a:latin typeface="Arial"/>
              </a:rPr>
              <a:t>포메이션 메모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CEEF4"/>
                </a:solidFill>
                <a:latin typeface="Arial"/>
              </a:rPr>
              <a:t>• 반복 빌딩의 1점 투시 소실점에 센터 배치, 좌우 대칭으로 5인 전개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CEEF4"/>
                </a:solidFill>
                <a:latin typeface="Arial"/>
              </a:rPr>
              <a:t>• ‘一遍 一遍’ 4박자마다 6인이 같은 동작 반복 → 더우인/숏폼 챌린지로 그대로 전환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 ·  ADD  ·  MV CONCEPT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4864" cy="50292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24D"/>
                </a:solidFill>
                <a:latin typeface="Arial"/>
              </a:rPr>
              <a:t>BUDGET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ECEEF4"/>
                </a:solidFill>
                <a:latin typeface="Arial"/>
              </a:rPr>
              <a:t>초저예산 전략 &amp; 다음 스텝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49240" cy="411480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B24D"/>
                </a:solidFill>
                <a:latin typeface="Arial"/>
              </a:rPr>
              <a:t>WHERE THE MONEY GOES (적게)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AA0B0"/>
                </a:solidFill>
                <a:latin typeface="Arial"/>
              </a:rPr>
              <a:t>로케비</a:t>
            </a:r>
            <a:r>
              <a:rPr sz="1400" b="1">
                <a:solidFill>
                  <a:srgbClr val="3DDC84"/>
                </a:solidFill>
                <a:latin typeface="Arial"/>
              </a:rPr>
              <a:t>   0원 (공공 공간)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AA0B0"/>
                </a:solidFill>
                <a:latin typeface="Arial"/>
              </a:rPr>
              <a:t>미술</a:t>
            </a:r>
            <a:r>
              <a:rPr sz="1400" b="0">
                <a:solidFill>
                  <a:srgbClr val="ECEEF4"/>
                </a:solidFill>
                <a:latin typeface="Arial"/>
              </a:rPr>
              <a:t>     공간이 곧 미술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AA0B0"/>
                </a:solidFill>
                <a:latin typeface="Arial"/>
              </a:rPr>
              <a:t>장비</a:t>
            </a:r>
            <a:r>
              <a:rPr sz="1400" b="0">
                <a:solidFill>
                  <a:srgbClr val="ECEEF4"/>
                </a:solidFill>
                <a:latin typeface="Arial"/>
              </a:rPr>
              <a:t>     짐벌 1 + 헤이즈 + 자연광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AA0B0"/>
                </a:solidFill>
                <a:latin typeface="Arial"/>
              </a:rPr>
              <a:t>조명</a:t>
            </a:r>
            <a:r>
              <a:rPr sz="1400" b="0">
                <a:solidFill>
                  <a:srgbClr val="ECEEF4"/>
                </a:solidFill>
                <a:latin typeface="Arial"/>
              </a:rPr>
              <a:t>     실내 소형 + 선셋 활용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핵심 절약 = 단일 로케 + 원테이크로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컷·세트·이동 최소화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349240" cy="411480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B24D"/>
                </a:solidFill>
                <a:latin typeface="Arial"/>
              </a:rPr>
              <a:t>NEXT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468880"/>
            <a:ext cx="365760" cy="365760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FFB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2468880"/>
            <a:ext cx="3474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B24D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450592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로케 헌팅 — 옌자오/톈퉁위안 옥상·고층 빈집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127248"/>
            <a:ext cx="365760" cy="365760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FFB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3127248"/>
            <a:ext cx="3474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B24D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108960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선셋 시간표 + 콜시트 작성 (골든아워 역산)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785616"/>
            <a:ext cx="365760" cy="365760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FFB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785616"/>
            <a:ext cx="3474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B24D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767328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6인 포메이션·파트 분배 콘티 확정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443984"/>
            <a:ext cx="365760" cy="365760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FFB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4443984"/>
            <a:ext cx="3474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B24D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25696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실제 로케 사진으로 키프레임 재생성(크레딧 충전)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5102352"/>
            <a:ext cx="365760" cy="365760"/>
          </a:xfrm>
          <a:prstGeom prst="roundRect">
            <a:avLst/>
          </a:prstGeom>
          <a:solidFill>
            <a:srgbClr val="20242F"/>
          </a:solidFill>
          <a:ln w="12700">
            <a:solidFill>
              <a:srgbClr val="FFB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5102352"/>
            <a:ext cx="3474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B24D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084064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CEEF4"/>
                </a:solidFill>
                <a:latin typeface="Arial"/>
              </a:rPr>
              <a:t>원테이크 리허설 → 촬영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 ·  ADD  ·  MV CONCEPT 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4073423" cy="164592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693408"/>
            <a:ext cx="4073423" cy="164592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693408"/>
            <a:ext cx="4073423" cy="164592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ECEEF4"/>
                </a:solidFill>
                <a:latin typeface="Arial"/>
              </a:rPr>
              <a:t>一遍 一遍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66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B24D"/>
                </a:solidFill>
                <a:latin typeface="Arial"/>
              </a:rPr>
              <a:t>끝없이 반복되는 도시에서, 단 한 번의 선셋.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0B0"/>
                </a:solidFill>
                <a:latin typeface="Arial"/>
              </a:rPr>
              <a:t>ADD  ·  Beijing  ·  One-location performance film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